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hyperlink" Target="https://github.com/bianyanbo44-afk/vultriage-fcs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64592"/>
            <a:ext cx="585216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5B6671"/>
                </a:solidFill>
                <a:latin typeface="Arial"/>
              </a:rPr>
              <a:t>FRONTIERS OF COMPUTER SCIENCE  |  HIGHLIGHTS 1/3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1018520" cy="60350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50" b="1">
                <a:solidFill>
                  <a:srgbClr val="182C46"/>
                </a:solidFill>
                <a:latin typeface="Arial"/>
              </a:rPr>
              <a:t>VulTriage makes cross-project automation auditable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088136"/>
            <a:ext cx="11055096" cy="0"/>
          </a:xfrm>
          <a:prstGeom prst="line">
            <a:avLst/>
          </a:prstGeom>
          <a:ln w="17780">
            <a:solidFill>
              <a:srgbClr val="182C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fig1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1271016"/>
            <a:ext cx="10972800" cy="500176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66928" y="6108192"/>
            <a:ext cx="11055096" cy="338328"/>
          </a:xfrm>
          <a:prstGeom prst="rect">
            <a:avLst/>
          </a:prstGeom>
          <a:solidFill>
            <a:srgbClr val="F1F5F8"/>
          </a:solidFill>
          <a:ln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6149340"/>
            <a:ext cx="1069848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30" b="1">
                <a:solidFill>
                  <a:srgbClr val="182C46"/>
                </a:solidFill>
                <a:latin typeface="Arial"/>
              </a:rPr>
              <a:t>Separate class budgets + target-support audit -&gt; automate when qualified, review otherwise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66928" y="6519672"/>
            <a:ext cx="11055096" cy="0"/>
          </a:xfrm>
          <a:prstGeom prst="line">
            <a:avLst/>
          </a:prstGeom>
          <a:ln w="10160">
            <a:solidFill>
              <a:srgbClr val="CF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6583680"/>
            <a:ext cx="85039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5B6671"/>
                </a:solidFill>
                <a:latin typeface="Arial"/>
              </a:rPr>
              <a:t>Source: manuscript Fig. 1; frozen PrimeVul project-shift protocol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6583680"/>
            <a:ext cx="24688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5B6671"/>
                </a:solidFill>
                <a:latin typeface="Arial"/>
              </a:rPr>
              <a:t>Bian &amp; Wang  |  VulTriage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64592"/>
            <a:ext cx="585216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5B6671"/>
                </a:solidFill>
                <a:latin typeface="Arial"/>
              </a:rPr>
              <a:t>FRONTIERS OF COMPUTER SCIENCE  |  HIGHLIGHTS 2/3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1018520" cy="60350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50" b="1">
                <a:solidFill>
                  <a:srgbClr val="182C46"/>
                </a:solidFill>
                <a:latin typeface="Arial"/>
              </a:rPr>
              <a:t>Support-qualified automation covers 10 of 12 unseen projects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088136"/>
            <a:ext cx="11055096" cy="0"/>
          </a:xfrm>
          <a:prstGeom prst="line">
            <a:avLst/>
          </a:prstGeom>
          <a:ln w="17780">
            <a:solidFill>
              <a:srgbClr val="182C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fig3_project_autom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53312"/>
            <a:ext cx="7406640" cy="5010912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8183879" y="1362456"/>
            <a:ext cx="0" cy="4507992"/>
          </a:xfrm>
          <a:prstGeom prst="line">
            <a:avLst/>
          </a:prstGeom>
          <a:ln w="12700">
            <a:solidFill>
              <a:srgbClr val="CF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449056" y="1472184"/>
            <a:ext cx="306324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147C70"/>
                </a:solidFill>
                <a:latin typeface="Arial"/>
              </a:rPr>
              <a:t>10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49056" y="1929384"/>
            <a:ext cx="306324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20" b="0">
                <a:solidFill>
                  <a:srgbClr val="1D242C"/>
                </a:solidFill>
                <a:latin typeface="Arial"/>
              </a:rPr>
              <a:t>projects pass the label-free support audit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449056" y="2468880"/>
            <a:ext cx="3026664" cy="0"/>
          </a:xfrm>
          <a:prstGeom prst="line">
            <a:avLst/>
          </a:prstGeom>
          <a:ln w="10160">
            <a:solidFill>
              <a:srgbClr val="CF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449056" y="2660904"/>
            <a:ext cx="306324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2E70B5"/>
                </a:solidFill>
                <a:latin typeface="Arial"/>
              </a:rPr>
              <a:t>57.83%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49056" y="3118104"/>
            <a:ext cx="306324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20" b="0">
                <a:solidFill>
                  <a:srgbClr val="1D242C"/>
                </a:solidFill>
                <a:latin typeface="Arial"/>
              </a:rPr>
              <a:t>median singleton coverage among supported projects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449056" y="3657600"/>
            <a:ext cx="3026664" cy="0"/>
          </a:xfrm>
          <a:prstGeom prst="line">
            <a:avLst/>
          </a:prstGeom>
          <a:ln w="10160">
            <a:solidFill>
              <a:srgbClr val="CF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449056" y="3858768"/>
            <a:ext cx="306324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DC841F"/>
                </a:solidFill>
                <a:latin typeface="Arial"/>
              </a:rPr>
              <a:t>2 refused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49056" y="4315968"/>
            <a:ext cx="306324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20" b="0">
                <a:solidFill>
                  <a:srgbClr val="1D242C"/>
                </a:solidFill>
                <a:latin typeface="Arial"/>
              </a:rPr>
              <a:t>ImageMagick and GPAC route entirely to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49056" y="5020056"/>
            <a:ext cx="2980944" cy="6035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40" b="0">
                <a:solidFill>
                  <a:srgbClr val="5B6671"/>
                </a:solidFill>
                <a:latin typeface="Arial"/>
              </a:rPr>
              <a:t>Operating point: 10% vulnerable-class budget; 20% safe-class budget.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6108192"/>
            <a:ext cx="11055096" cy="338328"/>
          </a:xfrm>
          <a:prstGeom prst="rect">
            <a:avLst/>
          </a:prstGeom>
          <a:solidFill>
            <a:srgbClr val="F1F5F8"/>
          </a:solidFill>
          <a:ln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6149340"/>
            <a:ext cx="1069848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30" b="1">
                <a:solidFill>
                  <a:srgbClr val="147C70"/>
                </a:solidFill>
                <a:latin typeface="Arial"/>
              </a:rPr>
              <a:t>The system preserves useful automation while making unsupported targets explicit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66928" y="6519672"/>
            <a:ext cx="11055096" cy="0"/>
          </a:xfrm>
          <a:prstGeom prst="line">
            <a:avLst/>
          </a:prstGeom>
          <a:ln w="10160">
            <a:solidFill>
              <a:srgbClr val="CF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66928" y="6583680"/>
            <a:ext cx="85039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5B6671"/>
                </a:solidFill>
                <a:latin typeface="Arial"/>
              </a:rPr>
              <a:t>Source: manuscript Fig. 3; seed-averaged results across five technical seeds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6583680"/>
            <a:ext cx="24688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5B6671"/>
                </a:solidFill>
                <a:latin typeface="Arial"/>
              </a:rPr>
              <a:t>Bian &amp; Wang  |  VulTriage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64592"/>
            <a:ext cx="585216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19" b="1">
                <a:solidFill>
                  <a:srgbClr val="5B6671"/>
                </a:solidFill>
                <a:latin typeface="Arial"/>
              </a:rPr>
              <a:t>FRONTIERS OF COMPUTER SCIENCE  |  HIGHLIGHTS 3/3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1018520" cy="60350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50" b="1">
                <a:solidFill>
                  <a:srgbClr val="182C46"/>
                </a:solidFill>
                <a:latin typeface="Arial"/>
              </a:rPr>
              <a:t>Estimated weighting improves risk alignment in 74/108 settings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088136"/>
            <a:ext cx="11055096" cy="0"/>
          </a:xfrm>
          <a:prstGeom prst="line">
            <a:avLst/>
          </a:prstGeom>
          <a:ln w="17780">
            <a:solidFill>
              <a:srgbClr val="182C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fig4_risk_align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" y="1371600"/>
            <a:ext cx="7635240" cy="4590288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8385048" y="1353312"/>
            <a:ext cx="0" cy="4562856"/>
          </a:xfrm>
          <a:prstGeom prst="line">
            <a:avLst/>
          </a:prstGeom>
          <a:ln w="12700">
            <a:solidFill>
              <a:srgbClr val="CF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622792" y="1417320"/>
            <a:ext cx="306324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2E70B5"/>
                </a:solidFill>
                <a:latin typeface="Arial"/>
              </a:rPr>
              <a:t>74 improved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22792" y="1874519"/>
            <a:ext cx="306324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20" b="0">
                <a:solidFill>
                  <a:srgbClr val="1D242C"/>
                </a:solidFill>
                <a:latin typeface="Arial"/>
              </a:rPr>
              <a:t>lower worst-class budget violation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22792" y="2459736"/>
            <a:ext cx="306324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5B6671"/>
                </a:solidFill>
                <a:latin typeface="Arial"/>
              </a:rPr>
              <a:t>7 tied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22792" y="2916936"/>
            <a:ext cx="306324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20" b="0">
                <a:solidFill>
                  <a:srgbClr val="1D242C"/>
                </a:solidFill>
                <a:latin typeface="Arial"/>
              </a:rPr>
              <a:t>no change at the evaluated setting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22792" y="3502152"/>
            <a:ext cx="306324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DC841F"/>
                </a:solidFill>
                <a:latin typeface="Arial"/>
              </a:rPr>
              <a:t>27 worse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22792" y="3959352"/>
            <a:ext cx="306324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20" b="0">
                <a:solidFill>
                  <a:srgbClr val="1D242C"/>
                </a:solidFill>
                <a:latin typeface="Arial"/>
              </a:rPr>
              <a:t>kept visible in the full 108-setting audit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22792" y="4535424"/>
            <a:ext cx="2852928" cy="0"/>
          </a:xfrm>
          <a:prstGeom prst="line">
            <a:avLst/>
          </a:prstGeom>
          <a:ln w="10160">
            <a:solidFill>
              <a:srgbClr val="CF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622792" y="4709160"/>
            <a:ext cx="2834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20" b="1">
                <a:solidFill>
                  <a:srgbClr val="182C46"/>
                </a:solidFill>
                <a:latin typeface="Arial"/>
              </a:rPr>
              <a:t>Public artifact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22792" y="4992624"/>
            <a:ext cx="283464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0" b="0">
                <a:solidFill>
                  <a:srgbClr val="2E70B5"/>
                </a:solidFill>
                <a:latin typeface="Arial"/>
                <a:hlinkClick r:id="rId3"/>
              </a:rPr>
              <a:t>github.com/bianyanbo44-afk/vultriage-fcs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22792" y="5504688"/>
            <a:ext cx="27889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10" b="0">
                <a:solidFill>
                  <a:srgbClr val="5B6671"/>
                </a:solidFill>
                <a:latin typeface="Arial"/>
              </a:rPr>
              <a:t>Evidence scope: PrimeVul, 12 target projects, one hashing/SGD detector.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6108192"/>
            <a:ext cx="11055096" cy="338328"/>
          </a:xfrm>
          <a:prstGeom prst="rect">
            <a:avLst/>
          </a:prstGeom>
          <a:solidFill>
            <a:srgbClr val="F1F5F8"/>
          </a:solidFill>
          <a:ln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6149340"/>
            <a:ext cx="1069848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30" b="1">
                <a:solidFill>
                  <a:srgbClr val="182C46"/>
                </a:solidFill>
                <a:latin typeface="Arial"/>
              </a:rPr>
              <a:t>Positive but bounded conclusion: auditable partial automation is attainable under project shift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66928" y="6519672"/>
            <a:ext cx="11055096" cy="0"/>
          </a:xfrm>
          <a:prstGeom prst="line">
            <a:avLst/>
          </a:prstGeom>
          <a:ln w="10160">
            <a:solidFill>
              <a:srgbClr val="CFD8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66928" y="6583680"/>
            <a:ext cx="85039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5B6671"/>
                </a:solidFill>
                <a:latin typeface="Arial"/>
              </a:rPr>
              <a:t>Source: manuscript Fig. 4; descriptive frozen 12-project x 9-operating-point grid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6583680"/>
            <a:ext cx="24688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20" b="0">
                <a:solidFill>
                  <a:srgbClr val="5B6671"/>
                </a:solidFill>
                <a:latin typeface="Arial"/>
              </a:rPr>
              <a:t>Bian &amp; Wang  |  VulTriage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VulTriage - Frontiers of Computer Science Highlights</dc:title>
  <dc:subject>Three-page article highlights</dc:subject>
  <dc:creator>Yanbo Bian; Zhihai Wang</dc:creator>
  <cp:keywords>vulnerability detection; project shift; conformal prediction; selective prediction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